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7ac955b0-5d8e-434d-095b-171bc7f3940d}">
          <p14:sldIdLst>
            <p14:sldId id="256"/>
          </p14:sldIdLst>
        </p14:section>
        <p14:section name="进展" id="{4407758f-1b4d-77f9-c356-47dfce85a885}">
          <p14:sldIdLst>
            <p14:sldId id="257"/>
            <p14:sldId id="258"/>
          </p14:sldIdLst>
        </p14:section>
        <p14:section name="结果" id="{07cdfe90-aed4-07a2-ae64-2c7b7d9ceb1b}">
          <p14:sldIdLst>
            <p14:sldId id="259"/>
            <p14:sldId id="260"/>
            <p14:sldId id="261"/>
          </p14:sldIdLst>
        </p14:section>
        <p14:section name="合并与下一步" id="{43f83993-34e2-bf53-37a8-00c2b9914799}">
          <p14:sldIdLst>
            <p14:sldId id="262"/>
            <p14:sldId id="263"/>
          </p14:sldIdLst>
        </p14:section>
        <p14:section name="备份" id="{7e6c6734-54f6-4abf-3091-abdea1205118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1D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1D1F"/>
                </a:solidFill>
                <a:latin typeface="+mn-lt"/>
              </a:rPr>
              <a:t>已完成子目标比例（180 局均值）随时间变化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仅快·文本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  <c:pt idx="25">
                    <c:v>250</c:v>
                  </c:pt>
                  <c:pt idx="26">
                    <c:v>260</c:v>
                  </c:pt>
                  <c:pt idx="27">
                    <c:v>270</c:v>
                  </c:pt>
                  <c:pt idx="28">
                    <c:v>280</c:v>
                  </c:pt>
                  <c:pt idx="29">
                    <c:v>290</c:v>
                  </c:pt>
                  <c:pt idx="30">
                    <c:v>300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</c:v>
                </c:pt>
                <c:pt idx="1">
                  <c:v>0.124</c:v>
                </c:pt>
                <c:pt idx="2">
                  <c:v>0.24</c:v>
                </c:pt>
                <c:pt idx="3">
                  <c:v>0.35</c:v>
                </c:pt>
                <c:pt idx="4">
                  <c:v>0.44</c:v>
                </c:pt>
                <c:pt idx="5">
                  <c:v>0.516</c:v>
                </c:pt>
                <c:pt idx="6">
                  <c:v>0.563</c:v>
                </c:pt>
                <c:pt idx="7">
                  <c:v>0.602</c:v>
                </c:pt>
                <c:pt idx="8">
                  <c:v>0.633</c:v>
                </c:pt>
                <c:pt idx="9">
                  <c:v>0.66</c:v>
                </c:pt>
                <c:pt idx="10">
                  <c:v>0.677</c:v>
                </c:pt>
                <c:pt idx="11">
                  <c:v>0.685</c:v>
                </c:pt>
                <c:pt idx="12">
                  <c:v>0.693</c:v>
                </c:pt>
                <c:pt idx="13">
                  <c:v>0.701</c:v>
                </c:pt>
                <c:pt idx="14">
                  <c:v>0.705</c:v>
                </c:pt>
                <c:pt idx="15">
                  <c:v>0.711</c:v>
                </c:pt>
                <c:pt idx="16">
                  <c:v>0.714</c:v>
                </c:pt>
                <c:pt idx="17">
                  <c:v>0.716</c:v>
                </c:pt>
                <c:pt idx="18">
                  <c:v>0.716</c:v>
                </c:pt>
                <c:pt idx="19">
                  <c:v>0.718</c:v>
                </c:pt>
                <c:pt idx="20">
                  <c:v>0.718</c:v>
                </c:pt>
                <c:pt idx="21">
                  <c:v>0.72</c:v>
                </c:pt>
                <c:pt idx="22">
                  <c:v>0.721</c:v>
                </c:pt>
                <c:pt idx="23">
                  <c:v>0.723</c:v>
                </c:pt>
                <c:pt idx="24">
                  <c:v>0.723</c:v>
                </c:pt>
                <c:pt idx="25">
                  <c:v>0.723</c:v>
                </c:pt>
                <c:pt idx="26">
                  <c:v>0.723</c:v>
                </c:pt>
                <c:pt idx="27">
                  <c:v>0.723</c:v>
                </c:pt>
                <c:pt idx="28">
                  <c:v>0.723</c:v>
                </c:pt>
                <c:pt idx="29">
                  <c:v>0.724</c:v>
                </c:pt>
                <c:pt idx="30">
                  <c:v>0.724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双分支·建议注入·Jev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  <c:pt idx="25">
                    <c:v>250</c:v>
                  </c:pt>
                  <c:pt idx="26">
                    <c:v>260</c:v>
                  </c:pt>
                  <c:pt idx="27">
                    <c:v>270</c:v>
                  </c:pt>
                  <c:pt idx="28">
                    <c:v>280</c:v>
                  </c:pt>
                  <c:pt idx="29">
                    <c:v>290</c:v>
                  </c:pt>
                  <c:pt idx="30">
                    <c:v>300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</c:v>
                </c:pt>
                <c:pt idx="1">
                  <c:v>0.175</c:v>
                </c:pt>
                <c:pt idx="2">
                  <c:v>0.341</c:v>
                </c:pt>
                <c:pt idx="3">
                  <c:v>0.449</c:v>
                </c:pt>
                <c:pt idx="4">
                  <c:v>0.542</c:v>
                </c:pt>
                <c:pt idx="5">
                  <c:v>0.576</c:v>
                </c:pt>
                <c:pt idx="6">
                  <c:v>0.611</c:v>
                </c:pt>
                <c:pt idx="7">
                  <c:v>0.649</c:v>
                </c:pt>
                <c:pt idx="8">
                  <c:v>0.671</c:v>
                </c:pt>
                <c:pt idx="9">
                  <c:v>0.68</c:v>
                </c:pt>
                <c:pt idx="10">
                  <c:v>0.685</c:v>
                </c:pt>
                <c:pt idx="11">
                  <c:v>0.689</c:v>
                </c:pt>
                <c:pt idx="12">
                  <c:v>0.696</c:v>
                </c:pt>
                <c:pt idx="13">
                  <c:v>0.699</c:v>
                </c:pt>
                <c:pt idx="14">
                  <c:v>0.701</c:v>
                </c:pt>
                <c:pt idx="15">
                  <c:v>0.703</c:v>
                </c:pt>
                <c:pt idx="16">
                  <c:v>0.706</c:v>
                </c:pt>
                <c:pt idx="17">
                  <c:v>0.708</c:v>
                </c:pt>
                <c:pt idx="18">
                  <c:v>0.71</c:v>
                </c:pt>
                <c:pt idx="19">
                  <c:v>0.711</c:v>
                </c:pt>
                <c:pt idx="20">
                  <c:v>0.711</c:v>
                </c:pt>
                <c:pt idx="21">
                  <c:v>0.713</c:v>
                </c:pt>
                <c:pt idx="22">
                  <c:v>0.717</c:v>
                </c:pt>
                <c:pt idx="23">
                  <c:v>0.717</c:v>
                </c:pt>
                <c:pt idx="24">
                  <c:v>0.719</c:v>
                </c:pt>
                <c:pt idx="25">
                  <c:v>0.719</c:v>
                </c:pt>
                <c:pt idx="26">
                  <c:v>0.719</c:v>
                </c:pt>
                <c:pt idx="27">
                  <c:v>0.719</c:v>
                </c:pt>
                <c:pt idx="28">
                  <c:v>0.719</c:v>
                </c:pt>
                <c:pt idx="29">
                  <c:v>0.72</c:v>
                </c:pt>
                <c:pt idx="30">
                  <c:v>0.72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仅快·Jev</c:v>
                </c:pt>
              </c:strCache>
            </c:strRef>
          </c:tx>
          <c:spPr>
            <a:solidFill>
              <a:srgbClr val="008300"/>
            </a:solidFill>
            <a:ln w="31750" cap="flat">
              <a:solidFill>
                <a:srgbClr val="008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  <c:pt idx="25">
                    <c:v>250</c:v>
                  </c:pt>
                  <c:pt idx="26">
                    <c:v>260</c:v>
                  </c:pt>
                  <c:pt idx="27">
                    <c:v>270</c:v>
                  </c:pt>
                  <c:pt idx="28">
                    <c:v>280</c:v>
                  </c:pt>
                  <c:pt idx="29">
                    <c:v>290</c:v>
                  </c:pt>
                  <c:pt idx="30">
                    <c:v>300</c:v>
                  </c:pt>
                </c:lvl>
              </c:multiLvlStrCache>
            </c:multiLvl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0</c:v>
                </c:pt>
                <c:pt idx="1">
                  <c:v>0.191</c:v>
                </c:pt>
                <c:pt idx="2">
                  <c:v>0.358</c:v>
                </c:pt>
                <c:pt idx="3">
                  <c:v>0.461</c:v>
                </c:pt>
                <c:pt idx="4">
                  <c:v>0.55</c:v>
                </c:pt>
                <c:pt idx="5">
                  <c:v>0.585</c:v>
                </c:pt>
                <c:pt idx="6">
                  <c:v>0.615</c:v>
                </c:pt>
                <c:pt idx="7">
                  <c:v>0.649</c:v>
                </c:pt>
                <c:pt idx="8">
                  <c:v>0.667</c:v>
                </c:pt>
                <c:pt idx="9">
                  <c:v>0.671</c:v>
                </c:pt>
                <c:pt idx="10">
                  <c:v>0.673</c:v>
                </c:pt>
                <c:pt idx="11">
                  <c:v>0.677</c:v>
                </c:pt>
                <c:pt idx="12">
                  <c:v>0.679</c:v>
                </c:pt>
                <c:pt idx="13">
                  <c:v>0.68</c:v>
                </c:pt>
                <c:pt idx="14">
                  <c:v>0.681</c:v>
                </c:pt>
                <c:pt idx="15">
                  <c:v>0.682</c:v>
                </c:pt>
                <c:pt idx="16">
                  <c:v>0.684</c:v>
                </c:pt>
                <c:pt idx="17">
                  <c:v>0.684</c:v>
                </c:pt>
                <c:pt idx="18">
                  <c:v>0.688</c:v>
                </c:pt>
                <c:pt idx="19">
                  <c:v>0.69</c:v>
                </c:pt>
                <c:pt idx="20">
                  <c:v>0.693</c:v>
                </c:pt>
                <c:pt idx="21">
                  <c:v>0.696</c:v>
                </c:pt>
                <c:pt idx="22">
                  <c:v>0.699</c:v>
                </c:pt>
                <c:pt idx="23">
                  <c:v>0.7</c:v>
                </c:pt>
                <c:pt idx="24">
                  <c:v>0.7</c:v>
                </c:pt>
                <c:pt idx="25">
                  <c:v>0.7</c:v>
                </c:pt>
                <c:pt idx="26">
                  <c:v>0.704</c:v>
                </c:pt>
                <c:pt idx="27">
                  <c:v>0.707</c:v>
                </c:pt>
                <c:pt idx="28">
                  <c:v>0.71</c:v>
                </c:pt>
                <c:pt idx="29">
                  <c:v>0.71</c:v>
                </c:pt>
                <c:pt idx="30">
                  <c:v>0.71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双分支·完整计划·Jev</c:v>
                </c:pt>
              </c:strCache>
            </c:strRef>
          </c:tx>
          <c:spPr>
            <a:solidFill>
              <a:srgbClr val="6250D6"/>
            </a:solidFill>
            <a:ln w="31750" cap="flat">
              <a:solidFill>
                <a:srgbClr val="6250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  <c:pt idx="25">
                    <c:v>250</c:v>
                  </c:pt>
                  <c:pt idx="26">
                    <c:v>260</c:v>
                  </c:pt>
                  <c:pt idx="27">
                    <c:v>270</c:v>
                  </c:pt>
                  <c:pt idx="28">
                    <c:v>280</c:v>
                  </c:pt>
                  <c:pt idx="29">
                    <c:v>290</c:v>
                  </c:pt>
                  <c:pt idx="30">
                    <c:v>300</c:v>
                  </c:pt>
                </c:lvl>
              </c:multiLvlStrCache>
            </c:multiLvl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0</c:v>
                </c:pt>
                <c:pt idx="1">
                  <c:v>0.183</c:v>
                </c:pt>
                <c:pt idx="2">
                  <c:v>0.354</c:v>
                </c:pt>
                <c:pt idx="3">
                  <c:v>0.46</c:v>
                </c:pt>
                <c:pt idx="4">
                  <c:v>0.545</c:v>
                </c:pt>
                <c:pt idx="5">
                  <c:v>0.582</c:v>
                </c:pt>
                <c:pt idx="6">
                  <c:v>0.617</c:v>
                </c:pt>
                <c:pt idx="7">
                  <c:v>0.646</c:v>
                </c:pt>
                <c:pt idx="8">
                  <c:v>0.658</c:v>
                </c:pt>
                <c:pt idx="9">
                  <c:v>0.667</c:v>
                </c:pt>
                <c:pt idx="10">
                  <c:v>0.675</c:v>
                </c:pt>
                <c:pt idx="11">
                  <c:v>0.68</c:v>
                </c:pt>
                <c:pt idx="12">
                  <c:v>0.683</c:v>
                </c:pt>
                <c:pt idx="13">
                  <c:v>0.685</c:v>
                </c:pt>
                <c:pt idx="14">
                  <c:v>0.686</c:v>
                </c:pt>
                <c:pt idx="15">
                  <c:v>0.687</c:v>
                </c:pt>
                <c:pt idx="16">
                  <c:v>0.688</c:v>
                </c:pt>
                <c:pt idx="17">
                  <c:v>0.689</c:v>
                </c:pt>
                <c:pt idx="18">
                  <c:v>0.694</c:v>
                </c:pt>
                <c:pt idx="19">
                  <c:v>0.697</c:v>
                </c:pt>
                <c:pt idx="20">
                  <c:v>0.7</c:v>
                </c:pt>
                <c:pt idx="21">
                  <c:v>0.701</c:v>
                </c:pt>
                <c:pt idx="22">
                  <c:v>0.701</c:v>
                </c:pt>
                <c:pt idx="23">
                  <c:v>0.701</c:v>
                </c:pt>
                <c:pt idx="24">
                  <c:v>0.702</c:v>
                </c:pt>
                <c:pt idx="25">
                  <c:v>0.702</c:v>
                </c:pt>
                <c:pt idx="26">
                  <c:v>0.703</c:v>
                </c:pt>
                <c:pt idx="27">
                  <c:v>0.703</c:v>
                </c:pt>
                <c:pt idx="28">
                  <c:v>0.704</c:v>
                </c:pt>
                <c:pt idx="29">
                  <c:v>0.704</c:v>
                </c:pt>
                <c:pt idx="30">
                  <c:v>0.706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仅慢（每步开思考）</c:v>
                </c:pt>
              </c:strCache>
            </c:strRef>
          </c:tx>
          <c:spPr>
            <a:solidFill>
              <a:srgbClr val="B8860B"/>
            </a:solidFill>
            <a:ln w="31750" cap="flat">
              <a:solidFill>
                <a:srgbClr val="B886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860B"/>
              </a:solidFill>
              <a:ln w="9525" cap="flat">
                <a:solidFill>
                  <a:srgbClr val="B886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  <c:pt idx="25">
                    <c:v>250</c:v>
                  </c:pt>
                  <c:pt idx="26">
                    <c:v>260</c:v>
                  </c:pt>
                  <c:pt idx="27">
                    <c:v>270</c:v>
                  </c:pt>
                  <c:pt idx="28">
                    <c:v>280</c:v>
                  </c:pt>
                  <c:pt idx="29">
                    <c:v>290</c:v>
                  </c:pt>
                  <c:pt idx="30">
                    <c:v>300</c:v>
                  </c:pt>
                </c:lvl>
              </c:multiLvlStrCache>
            </c:multiLvl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0</c:v>
                </c:pt>
                <c:pt idx="1">
                  <c:v>0.025</c:v>
                </c:pt>
                <c:pt idx="2">
                  <c:v>0.108</c:v>
                </c:pt>
                <c:pt idx="3">
                  <c:v>0.172</c:v>
                </c:pt>
                <c:pt idx="4">
                  <c:v>0.217</c:v>
                </c:pt>
                <c:pt idx="5">
                  <c:v>0.267</c:v>
                </c:pt>
                <c:pt idx="6">
                  <c:v>0.316</c:v>
                </c:pt>
                <c:pt idx="7">
                  <c:v>0.363</c:v>
                </c:pt>
                <c:pt idx="8">
                  <c:v>0.399</c:v>
                </c:pt>
                <c:pt idx="9">
                  <c:v>0.429</c:v>
                </c:pt>
                <c:pt idx="10">
                  <c:v>0.459</c:v>
                </c:pt>
                <c:pt idx="11">
                  <c:v>0.48</c:v>
                </c:pt>
                <c:pt idx="12">
                  <c:v>0.496</c:v>
                </c:pt>
                <c:pt idx="13">
                  <c:v>0.514</c:v>
                </c:pt>
                <c:pt idx="14">
                  <c:v>0.526</c:v>
                </c:pt>
                <c:pt idx="15">
                  <c:v>0.542</c:v>
                </c:pt>
                <c:pt idx="16">
                  <c:v>0.556</c:v>
                </c:pt>
                <c:pt idx="17">
                  <c:v>0.575</c:v>
                </c:pt>
                <c:pt idx="18">
                  <c:v>0.586</c:v>
                </c:pt>
                <c:pt idx="19">
                  <c:v>0.6</c:v>
                </c:pt>
                <c:pt idx="20">
                  <c:v>0.611</c:v>
                </c:pt>
                <c:pt idx="21">
                  <c:v>0.618</c:v>
                </c:pt>
                <c:pt idx="22">
                  <c:v>0.626</c:v>
                </c:pt>
                <c:pt idx="23">
                  <c:v>0.632</c:v>
                </c:pt>
                <c:pt idx="24">
                  <c:v>0.641</c:v>
                </c:pt>
                <c:pt idx="25">
                  <c:v>0.647</c:v>
                </c:pt>
                <c:pt idx="26">
                  <c:v>0.651</c:v>
                </c:pt>
                <c:pt idx="27">
                  <c:v>0.655</c:v>
                </c:pt>
                <c:pt idx="28">
                  <c:v>0.657</c:v>
                </c:pt>
                <c:pt idx="29">
                  <c:v>0.664</c:v>
                </c:pt>
                <c:pt idx="30">
                  <c:v>0.673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378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378"/>
                    </a:solidFill>
                    <a:latin typeface="Arial"/>
                  </a:rPr>
                  <a:t>开局后的时间（s）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3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D9DEE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3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本周主要做了两件事：一是按师兄的要求，在 RoboCerebra 全部 60 个任务上做了实时排行榜；二是和 Noah 的路线 A 合并成一份文档和一个代码仓库。先过一下上次组会行动项的完成情况。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上次组会定的行动项：执行器修正、Prompt 注入、计分器修正、KV 缓存调研都已完成。外部模型基线需要 API 密钥和预算，等组里定。另外新增了 60 任务排行榜和与路线 A 的合并。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 VISTA 排行榜的格式：同一个 Qwen3.8-27B，5 种推理模式，60 个任务，3 个种子，共 900 局。全部实时运行，模型思考时机械臂和场景继续运行。运行中有 9 局因电脑卡顿不合格，已重跑。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给满 300 秒时，前四名得分在 0.707 到 0.724 之间，批间标准差 0.004 到 0.028。逐任务配对比较，和仅快·Jev 的差都不显著。约一半任务各模式得分完全一样，全程得分主要受执行器能力限制。仅慢 0.674，也不显著。参考线 0.832 是不用语言模型、按演示步骤执行的结果。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横轴是开局后的时间，纵轴是已完成的子目标比例。三种用 Jev 做快分支的模式，60 秒时约 0.61；仅快·文本 0.563，显著落后，到 120 秒左右才追平；每步开思考只有 0.316，到 300 秒曲线还在往上走。所以排行榜建议同时报告全程得分和 60 秒得分。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四种模式的短板各不相同。完整计划的慢分支一次要 56 秒，计划到的时候快分支已经做完一半多，所以和仅快·Jev 几乎一样。建议注入整任务成功最多、用时最短、失败最少，但有 31 局没做完就说做完了，这是下一步要解决的。仅快·Jev 最快但容易反复试同一个失败动作。仅慢则是时间不够。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Noah 用公开的 VLA 策略直接输出动作，回答学习策略能不能执行；我用语言模型调度真值技能，回答实时调度的收益。两边独立做的演示状态回放，在官方计分下逐任务一致，都是 55/76，说明差别只来自计分器。合并文档在飞书，代码在 GitHub 私有仓库，老师和师兄都已邀请。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下一步：两人一起统一计分口径、核对场景版本；我这边解决提前宣布完成和计划来得太晚，排行榜固定加 60 秒得分；Noah 的技能达到门槛后接进实时框架。需要组里定四件事：排行榜主指标、外部模型基线的预算、上次说的训练集加噪声具体指什么、要不要补微波炉技能。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如果被问到哪类任务最难：记忆·执行和随机扰动离参考线最远，记忆·探索基本接近参考线。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8"/>
                </a:solidFill>
              </a:rPr>
              <a:t>实时快慢思考基准 · 组会 2026-10-25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my.feishu.cn/docx/YIoZdmnn0ofpsJxY9Vic73zjnah" TargetMode="External"/><Relationship Id="rId2" Type="http://schemas.openxmlformats.org/officeDocument/2006/relationships/hyperlink" Target="https://github.com/Vincent-Leon/robocerebra-realtime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实时快慢思考基准：本周进展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RoboCerebra 60 任务排行榜 · 与路线 A 的合并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Vincent　|　2026-10-25 组会</a:t>
            </a:r>
            <a:endParaRPr lang="en-US" sz="1400" dirty="0"/>
          </a:p>
        </p:txBody>
      </p:sp>
      <p:sp>
        <p:nvSpPr>
          <p:cNvPr id="5" name="cover-stat-0"/>
          <p:cNvSpPr txBox="1"/>
          <p:nvPr/>
        </p:nvSpPr>
        <p:spPr>
          <a:xfrm>
            <a:off x="731520" y="4160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个任务</a:t>
            </a:r>
            <a:endParaRPr lang="en-US" sz="1400" dirty="0"/>
          </a:p>
        </p:txBody>
      </p:sp>
      <p:sp>
        <p:nvSpPr>
          <p:cNvPr id="6" name="cover-stat-1"/>
          <p:cNvSpPr txBox="1"/>
          <p:nvPr/>
        </p:nvSpPr>
        <p:spPr>
          <a:xfrm>
            <a:off x="3108960" y="4160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种推理模式</a:t>
            </a:r>
            <a:endParaRPr lang="en-US" sz="1400" dirty="0"/>
          </a:p>
        </p:txBody>
      </p:sp>
      <p:sp>
        <p:nvSpPr>
          <p:cNvPr id="7" name="cover-stat-2"/>
          <p:cNvSpPr txBox="1"/>
          <p:nvPr/>
        </p:nvSpPr>
        <p:spPr>
          <a:xfrm>
            <a:off x="5486400" y="4160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900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局实时运行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上次组会行动项：均已完成，外部基线待定</a:t>
            </a:r>
            <a:endParaRPr lang="en-US" sz="3200" dirty="0"/>
          </a:p>
        </p:txBody>
      </p:sp>
      <p:graphicFrame>
        <p:nvGraphicFramePr>
          <p:cNvPr id="3" name="action-item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05840"/>
                <a:gridCol w="72237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行动项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状态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结果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执行器修正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完成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 个试点任务的标准计划 95/129 → 116/129；60 任务版本冻结，参考线 0.832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Prompt 注入（建议注入）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完成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慢分支关思考、一次 2–3 s；60 任务上整任务成功最多、用时最短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计分器 v6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完成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探索步骤不计顺序；演示回放：官方计分 248/405，修复版 400/405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不可达评分目标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完成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10/60 个任务的评分站点未在场景中声明，已补进区域列表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KV 缓存调研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完成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vLLM 按 784 token 一块缓存；禁缓存对照改用请求级 cache_salt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外部模型基线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待定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需要 API 密钥与预算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60 任务排行榜（新增）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完成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种模式 × 60 个任务 × 3 批 = 900 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与路线 A 合并（新增）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完成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飞书合并文档 + GitHub 私有仓库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排行榜设置：同一模型，5 种推理模式</a:t>
            </a:r>
            <a:endParaRPr lang="en-US" sz="3200" dirty="0"/>
          </a:p>
        </p:txBody>
      </p:sp>
      <p:sp>
        <p:nvSpPr>
          <p:cNvPr id="3" name="setup-stat-0"/>
          <p:cNvSpPr/>
          <p:nvPr/>
        </p:nvSpPr>
        <p:spPr>
          <a:xfrm>
            <a:off x="548640" y="1325880"/>
            <a:ext cx="18745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个任务（6 类 × 10）</a:t>
            </a:r>
            <a:endParaRPr lang="en-US" sz="1400" dirty="0"/>
          </a:p>
        </p:txBody>
      </p:sp>
      <p:sp>
        <p:nvSpPr>
          <p:cNvPr id="5" name="setup-stat-1"/>
          <p:cNvSpPr/>
          <p:nvPr/>
        </p:nvSpPr>
        <p:spPr>
          <a:xfrm>
            <a:off x="2606040" y="1325880"/>
            <a:ext cx="18745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8920" y="15544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种推理模式</a:t>
            </a:r>
            <a:endParaRPr lang="en-US" sz="1400" dirty="0"/>
          </a:p>
        </p:txBody>
      </p:sp>
      <p:sp>
        <p:nvSpPr>
          <p:cNvPr id="7" name="setup-stat-2"/>
          <p:cNvSpPr/>
          <p:nvPr/>
        </p:nvSpPr>
        <p:spPr>
          <a:xfrm>
            <a:off x="548640" y="3291840"/>
            <a:ext cx="18745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5204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批（随机种子）</a:t>
            </a:r>
            <a:endParaRPr lang="en-US" sz="1400" dirty="0"/>
          </a:p>
        </p:txBody>
      </p:sp>
      <p:sp>
        <p:nvSpPr>
          <p:cNvPr id="9" name="setup-stat-3"/>
          <p:cNvSpPr/>
          <p:nvPr/>
        </p:nvSpPr>
        <p:spPr>
          <a:xfrm>
            <a:off x="2606040" y="3291840"/>
            <a:ext cx="18745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35204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局，全部通过实时性检查</a:t>
            </a:r>
            <a:endParaRPr lang="en-US" sz="1400" dirty="0"/>
          </a:p>
        </p:txBody>
      </p:sp>
      <p:graphicFrame>
        <p:nvGraphicFramePr>
          <p:cNvPr id="4" name="mod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251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模式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做法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仅快·文本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关闭思考，每步直接输出 JSON 动作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仅快·Jev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合法动作列成选项，只输出 1 个 token 选字母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仅慢（每步开思考）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每步先思考（≤ 4096 token）再输出动作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双分支·完整计划·Jev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快分支持续决策；慢分支后台思考，给整段计划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双分支·建议注入·Jev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慢分支关思考，给 ≤ 2 句建议注入快分支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846320" y="49834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78"/>
                </a:solidFill>
              </a:rPr>
              <a:t>模型 Qwen3.8-27B（FP8，L20 单卡，vLLM，开前缀缓存）。仿真时间与墙钟 1:1，模型思考时场景不停；每局上限 300 s、40 次技能。随机扰动、描述错位按官方评测代码实现。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结果一：给满 300 秒，前四名分不开</a:t>
            </a:r>
            <a:endParaRPr lang="en-US" sz="3200" dirty="0"/>
          </a:p>
        </p:txBody>
      </p:sp>
      <p:graphicFrame>
        <p:nvGraphicFramePr>
          <p:cNvPr id="5" name="leaderboar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788920"/>
                <a:gridCol w="1783080"/>
                <a:gridCol w="1051560"/>
                <a:gridCol w="914400"/>
                <a:gridCol w="914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模式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得分（± 批间 SD）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整任务成功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单次决策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每任务用时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仅快·文本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0.724 ± 0.008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2.73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148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B6834"/>
                          </a:solidFill>
                        </a:rPr>
                        <a:t>双分支·建议注入·Jev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0.720 ± 0.028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0.61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97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8300"/>
                          </a:solidFill>
                        </a:rPr>
                        <a:t>仅快·Jev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0.710 ± 0.004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0.51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135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250D6"/>
                          </a:solidFill>
                        </a:rPr>
                        <a:t>双分支·完整计划·Jev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0.707 ± 0.006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0.53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126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</a:rPr>
                        <a:t>仅慢（每步开思考）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0.674 ± 0.010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12.46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参考：标准计划（无语言模型）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0.832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llout-range"/>
          <p:cNvSpPr/>
          <p:nvPr/>
        </p:nvSpPr>
        <p:spPr>
          <a:xfrm>
            <a:off x="8778240" y="1325880"/>
            <a:ext cx="28346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06840" y="15544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0.707–0.724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前四名全程得分</a:t>
            </a:r>
            <a:endParaRPr lang="en-US" sz="1400" dirty="0"/>
          </a:p>
        </p:txBody>
      </p:sp>
      <p:sp>
        <p:nvSpPr>
          <p:cNvPr id="6" name="callout-paired"/>
          <p:cNvSpPr/>
          <p:nvPr/>
        </p:nvSpPr>
        <p:spPr>
          <a:xfrm>
            <a:off x="8778240" y="3383280"/>
            <a:ext cx="28346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006840" y="36118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不显著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各模式与仅快·Jev 的逐任务得分差，95% 区间都包含 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349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378"/>
                </a:solidFill>
              </a:rPr>
              <a:t>得分 = 子目标完成率（修复版计分），60 个任务取平均。参考线是近似上限：它失败不重试，模型在 7–11 个任务上超过了它。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结果二：时间一收紧，决策速度决定得分</a:t>
            </a:r>
            <a:endParaRPr lang="en-US" sz="3200" dirty="0"/>
          </a:p>
        </p:txBody>
      </p:sp>
      <p:graphicFrame>
        <p:nvGraphicFramePr>
          <p:cNvPr id="3" name="anytime-chart" descr=""/>
          <p:cNvGraphicFramePr/>
          <p:nvPr/>
        </p:nvGraphicFramePr>
        <p:xfrm>
          <a:off x="548640" y="1234440"/>
          <a:ext cx="76809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udget-callout"/>
          <p:cNvSpPr/>
          <p:nvPr/>
        </p:nvSpPr>
        <p:spPr>
          <a:xfrm>
            <a:off x="8595360" y="1234440"/>
            <a:ext cx="3017520" cy="48920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23960" y="1463040"/>
            <a:ext cx="2606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60 秒时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0.611–0.617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三种 Jev 快分支模式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</a:rPr>
              <a:t>0.563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仅快·文本：比仅快·Jev 低 0.052，显著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rgbClr val="B8860B"/>
                </a:solidFill>
              </a:rPr>
              <a:t>0.316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仅慢：比仅快·Jev 低 0.299，显著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结果三：四种模式各有短板</a:t>
            </a:r>
            <a:endParaRPr lang="en-US" sz="3200" dirty="0"/>
          </a:p>
        </p:txBody>
      </p:sp>
      <p:sp>
        <p:nvSpPr>
          <p:cNvPr id="3" name="mode-card-0"/>
          <p:cNvSpPr/>
          <p:nvPr/>
        </p:nvSpPr>
        <p:spPr>
          <a:xfrm>
            <a:off x="548640" y="128016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250D6"/>
                </a:solidFill>
              </a:rPr>
              <a:t>完整计划：计划来得太晚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慢分支 56 s 一次，首个计划中位数 40 s 才到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此时快分支已完成约 0.55 的子目标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只有 4.1% 的技能来自计划</a:t>
            </a:r>
            <a:endParaRPr lang="en-US" sz="1500" dirty="0"/>
          </a:p>
        </p:txBody>
      </p:sp>
      <p:sp>
        <p:nvSpPr>
          <p:cNvPr id="6" name="mode-card-1"/>
          <p:cNvSpPr/>
          <p:nvPr/>
        </p:nvSpPr>
        <p:spPr>
          <a:xfrm>
            <a:off x="6172200" y="128016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</a:rPr>
              <a:t>建议注入：更完整、更快，但会提前收工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57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整任务成功 76/180（仅快·Jev 66/180）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每任务 97 s（仅快·Jev 135 s），失败技能约减半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31 局没做完就宣布完成</a:t>
            </a:r>
            <a:endParaRPr lang="en-US" sz="1500" dirty="0"/>
          </a:p>
        </p:txBody>
      </p:sp>
      <p:sp>
        <p:nvSpPr>
          <p:cNvPr id="9" name="mode-card-2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8300"/>
                </a:solidFill>
              </a:rPr>
              <a:t>仅快·Jev：最快，但反复试错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单次决策 0.51 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失败技能中位数 16 次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67/180 局用完 40 次技能机会</a:t>
            </a:r>
            <a:endParaRPr lang="en-US" sz="1500" dirty="0"/>
          </a:p>
        </p:txBody>
      </p:sp>
      <p:sp>
        <p:nvSpPr>
          <p:cNvPr id="12" name="mode-card-3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</a:rPr>
              <a:t>仅慢：时间不够用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单次决策 12.5 s，p95 55 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每局中位数只做 8 次决策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122/180 局到 300 s 仍未完成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与路线 A 合并：两条路线互补</a:t>
            </a:r>
            <a:endParaRPr lang="en-US" sz="3200" dirty="0"/>
          </a:p>
        </p:txBody>
      </p:sp>
      <p:sp>
        <p:nvSpPr>
          <p:cNvPr id="3" name="route-card-0"/>
          <p:cNvSpPr/>
          <p:nvPr/>
        </p:nvSpPr>
        <p:spPr>
          <a:xfrm>
            <a:off x="548640" y="1280160"/>
            <a:ext cx="544068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路线 A：学习策略直接控制（Noah）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公开 VLA 策略（OpenVLA-OFT、SmolVLA）直接输出机械臂动作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Ideal 10 个任务：完整任务 0/10，子目标最多 2/76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原生 LIBERO 9/9；RoboCerebra 上独立抓取 4 组全部失败</a:t>
            </a:r>
            <a:endParaRPr lang="en-US" sz="1500" dirty="0"/>
          </a:p>
        </p:txBody>
      </p:sp>
      <p:sp>
        <p:nvSpPr>
          <p:cNvPr id="6" name="route-card-1"/>
          <p:cNvSpPr/>
          <p:nvPr/>
        </p:nvSpPr>
        <p:spPr>
          <a:xfrm>
            <a:off x="6172200" y="1280160"/>
            <a:ext cx="544068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813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路线 B：语言模型实时调度（Vincent）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5740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语言模型选技能与参数，真值技能执行器执行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60 个任务 × 5 种模式 × 3 批，实时排行榜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回答：执行可靠时，快慢调度的收益与代价</a:t>
            </a:r>
            <a:endParaRPr lang="en-US" sz="1500" dirty="0"/>
          </a:p>
        </p:txBody>
      </p:sp>
      <p:graphicFrame>
        <p:nvGraphicFramePr>
          <p:cNvPr id="8" name="repla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演示状态回放（Ideal 10 个任务）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路线 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路线 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官方计分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55/76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55/76（逐任务相同）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修复版计分（v6）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75/76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863840" y="41605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两边的回放流程一致，差别只来自计分器。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飞书合并文档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私有仓库 Vincent-Leon/robocerebra-realtime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下一步，以及需要组里决定的事</a:t>
            </a:r>
            <a:endParaRPr lang="en-US" sz="3200" dirty="0"/>
          </a:p>
        </p:txBody>
      </p:sp>
      <p:sp>
        <p:nvSpPr>
          <p:cNvPr id="3" name="next-steps"/>
          <p:cNvSpPr/>
          <p:nvPr/>
        </p:nvSpPr>
        <p:spPr>
          <a:xfrm>
            <a:off x="548640" y="1280160"/>
            <a:ext cx="594360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下一步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5440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共同：统一计分口径（建正反例测试集），核对场景与版本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路线 B：完成判定先核实；让完整计划更早到达；排行榜加 60 秒得分一栏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路线 A：独立技能达到每技能 9/10 的门槛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对接：达标的学习技能接入实时框架，用同一套排行榜评测</a:t>
            </a:r>
            <a:endParaRPr lang="en-US" sz="1500" dirty="0"/>
          </a:p>
        </p:txBody>
      </p:sp>
      <p:sp>
        <p:nvSpPr>
          <p:cNvPr id="6" name="decisions"/>
          <p:cNvSpPr/>
          <p:nvPr/>
        </p:nvSpPr>
        <p:spPr>
          <a:xfrm>
            <a:off x="6675120" y="1280160"/>
            <a:ext cx="493776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0" y="1481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需要组里决定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057400"/>
            <a:ext cx="4434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排行榜主指标是否改成"全程 + 60 秒"两栏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外部模型基线：用哪个模型、预算多少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上次纪要中"训练集加噪声以丰富缓存命中"的具体含义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是否补微波炉技能（补的话排行榜需重跑，约 15 小时）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备份：分类别得分</a:t>
            </a:r>
            <a:endParaRPr lang="en-US" sz="3200" dirty="0"/>
          </a:p>
        </p:txBody>
      </p:sp>
      <p:pic>
        <p:nvPicPr>
          <p:cNvPr id="3" name="category-heatmap" descr="分类别得分热力图：5 种模式 × 6 类任务，末行为标准计划参考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86868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5806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78"/>
                </a:solidFill>
              </a:rPr>
              <a:t>差距最大的两类：记忆·执行 0.48–0.67（参考 0.85），随机扰动 0.65–0.70（参考 0.86）；记忆·探索接近参考。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Cerebra Realtime">
  <a:themeElements>
    <a:clrScheme name="RoboCerebra Realtime">
      <a:dk1>
        <a:srgbClr val="1D1D1F"/>
      </a:dk1>
      <a:lt1>
        <a:srgbClr val="FFFFFF"/>
      </a:lt1>
      <a:dk2>
        <a:srgbClr val="0F4C5C"/>
      </a:dk2>
      <a:lt2>
        <a:srgbClr val="EEF3F4"/>
      </a:lt2>
      <a:accent1>
        <a:srgbClr val="0F4C5C"/>
      </a:accent1>
      <a:accent2>
        <a:srgbClr val="EB6834"/>
      </a:accent2>
      <a:accent3>
        <a:srgbClr val="2A78D6"/>
      </a:accent3>
      <a:accent4>
        <a:srgbClr val="008300"/>
      </a:accent4>
      <a:accent5>
        <a:srgbClr val="6250D6"/>
      </a:accent5>
      <a:accent6>
        <a:srgbClr val="B8860B"/>
      </a:accent6>
      <a:hlink>
        <a:srgbClr val="2A78D6"/>
      </a:hlink>
      <a:folHlink>
        <a:srgbClr val="6250D6"/>
      </a:folHlink>
    </a:clrScheme>
    <a:fontScheme name="RoboCerebra Realtim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实时快慢思考基准：本周进展</dc:title>
  <dc:subject>PptxGenJS Presentation</dc:subject>
  <dc:creator>PptxGenJS</dc:creator>
  <cp:lastModifiedBy>PptxGenJS</cp:lastModifiedBy>
  <cp:revision>1</cp:revision>
  <dcterms:created xsi:type="dcterms:W3CDTF">2026-10-25T03:44:55Z</dcterms:created>
  <dcterms:modified xsi:type="dcterms:W3CDTF">2026-10-25T03:44:55Z</dcterms:modified>
</cp:coreProperties>
</file>